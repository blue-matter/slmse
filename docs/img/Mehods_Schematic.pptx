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
  </p:notesMasterIdLst>
  <p:sldIdLst>
    <p:sldId id="295"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7" autoAdjust="0"/>
    <p:restoredTop sz="94660"/>
  </p:normalViewPr>
  <p:slideViewPr>
    <p:cSldViewPr snapToGrid="0">
      <p:cViewPr varScale="1">
        <p:scale>
          <a:sx n="101" d="100"/>
          <a:sy n="10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391E2-B73C-45F1-8A59-BDC48A1BCB93}"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9E09F9-740D-42EA-B034-EE98D31F624B}" type="slidenum">
              <a:rPr lang="en-US" smtClean="0"/>
              <a:t>‹#›</a:t>
            </a:fld>
            <a:endParaRPr lang="en-US"/>
          </a:p>
        </p:txBody>
      </p:sp>
    </p:spTree>
    <p:extLst>
      <p:ext uri="{BB962C8B-B14F-4D97-AF65-F5344CB8AC3E}">
        <p14:creationId xmlns:p14="http://schemas.microsoft.com/office/powerpoint/2010/main" val="3765708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AAFA-581B-8C7B-BDA2-A6A32531C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E0A72-898B-8DE1-C781-70EC0503AE1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E5AA63C-D765-4F94-BC61-805F877DB3EE}"/>
              </a:ext>
            </a:extLst>
          </p:cNvPr>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0" dirty="0"/>
              <a:t>5) In other words – it depends on scientific interest, engagement in the project and data availability to help develop these tools. And we’d hope to be able to work with RFMOs like NPFC and SPRFMO to ensure these tools could work well for their stocks.</a:t>
            </a:r>
          </a:p>
        </p:txBody>
      </p:sp>
      <p:sp>
        <p:nvSpPr>
          <p:cNvPr id="4" name="Slide Number Placeholder 3">
            <a:extLst>
              <a:ext uri="{FF2B5EF4-FFF2-40B4-BE49-F238E27FC236}">
                <a16:creationId xmlns:a16="http://schemas.microsoft.com/office/drawing/2014/main" id="{81856406-184E-32E7-53C7-A1FA6E2E73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45B780-3E92-478E-86A5-114A72EECE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87673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Users/richardfriend/Dropbox/PEW/Powerpoint%20Update%202023/pew-blue-background.jpg"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574E6E0C-85C8-E7CB-421B-7F41730BC9E8}"/>
              </a:ext>
            </a:extLst>
          </p:cNvPr>
          <p:cNvPicPr>
            <a:picLocks noChangeAspect="1"/>
          </p:cNvPicPr>
          <p:nvPr userDrawn="1"/>
        </p:nvPicPr>
        <p:blipFill>
          <a:blip r:embed="rId2" r:link="rId3">
            <a:extLst>
              <a:ext uri="{28A0092B-C50C-407E-A947-70E740481C1C}">
                <a14:useLocalDpi xmlns:a14="http://schemas.microsoft.com/office/drawing/2010/main" val="0"/>
              </a:ext>
            </a:extLst>
          </a:blip>
          <a:stretch>
            <a:fillRect/>
          </a:stretch>
        </p:blipFill>
        <p:spPr>
          <a:xfrm>
            <a:off x="0" y="-6370"/>
            <a:ext cx="12192000" cy="6858000"/>
          </a:xfrm>
          <a:prstGeom prst="rect">
            <a:avLst/>
          </a:prstGeom>
        </p:spPr>
      </p:pic>
      <p:pic>
        <p:nvPicPr>
          <p:cNvPr id="4" name="Picture 3" descr="Pew logo. White text spelling the Pew name (P-e-w) on bright blue background.&#10;">
            <a:extLst>
              <a:ext uri="{FF2B5EF4-FFF2-40B4-BE49-F238E27FC236}">
                <a16:creationId xmlns:a16="http://schemas.microsoft.com/office/drawing/2014/main" id="{438C1960-9D27-141A-3D03-31985F7F649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23480" y="5918791"/>
            <a:ext cx="1371883" cy="565689"/>
          </a:xfrm>
          <a:prstGeom prst="rect">
            <a:avLst/>
          </a:prstGeom>
        </p:spPr>
      </p:pic>
    </p:spTree>
    <p:extLst>
      <p:ext uri="{BB962C8B-B14F-4D97-AF65-F5344CB8AC3E}">
        <p14:creationId xmlns:p14="http://schemas.microsoft.com/office/powerpoint/2010/main" val="964539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oyal Blue interior slide">
    <p:spTree>
      <p:nvGrpSpPr>
        <p:cNvPr id="1" name=""/>
        <p:cNvGrpSpPr/>
        <p:nvPr/>
      </p:nvGrpSpPr>
      <p:grpSpPr>
        <a:xfrm>
          <a:off x="0" y="0"/>
          <a:ext cx="0" cy="0"/>
          <a:chOff x="0" y="0"/>
          <a:chExt cx="0" cy="0"/>
        </a:xfrm>
      </p:grpSpPr>
      <p:sp>
        <p:nvSpPr>
          <p:cNvPr id="6" name="Google Shape;240;p34">
            <a:extLst>
              <a:ext uri="{FF2B5EF4-FFF2-40B4-BE49-F238E27FC236}">
                <a16:creationId xmlns:a16="http://schemas.microsoft.com/office/drawing/2014/main" id="{2AFD3153-640C-77EE-00A9-0C7A79075325}"/>
              </a:ext>
            </a:extLst>
          </p:cNvPr>
          <p:cNvSpPr/>
          <p:nvPr userDrawn="1"/>
        </p:nvSpPr>
        <p:spPr>
          <a:xfrm>
            <a:off x="427851" y="723227"/>
            <a:ext cx="392400" cy="60300"/>
          </a:xfrm>
          <a:prstGeom prst="rect">
            <a:avLst/>
          </a:prstGeom>
          <a:solidFill>
            <a:srgbClr val="2A6EC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0" name="Rectangle 9">
            <a:extLst>
              <a:ext uri="{FF2B5EF4-FFF2-40B4-BE49-F238E27FC236}">
                <a16:creationId xmlns:a16="http://schemas.microsoft.com/office/drawing/2014/main" id="{2F07ADB8-EB97-BA8E-43DD-5BCF61F2EEEA}"/>
              </a:ext>
            </a:extLst>
          </p:cNvPr>
          <p:cNvSpPr/>
          <p:nvPr userDrawn="1"/>
        </p:nvSpPr>
        <p:spPr>
          <a:xfrm>
            <a:off x="0" y="6296891"/>
            <a:ext cx="12192000" cy="561109"/>
          </a:xfrm>
          <a:prstGeom prst="rect">
            <a:avLst/>
          </a:prstGeom>
          <a:solidFill>
            <a:srgbClr val="2A6E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882E1144-DF98-276E-3E45-0BB414954B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4080348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Aqua blue section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201ACBD-4F08-6300-3748-0F3146664772}"/>
              </a:ext>
            </a:extLst>
          </p:cNvPr>
          <p:cNvSpPr/>
          <p:nvPr userDrawn="1"/>
        </p:nvSpPr>
        <p:spPr>
          <a:xfrm>
            <a:off x="0" y="6296891"/>
            <a:ext cx="12192000" cy="561109"/>
          </a:xfrm>
          <a:prstGeom prst="rect">
            <a:avLst/>
          </a:prstGeom>
          <a:solidFill>
            <a:srgbClr val="5A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6CCC0F1-50AD-01AA-23C3-86C9529FC1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1993902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qua blue interior slide">
    <p:spTree>
      <p:nvGrpSpPr>
        <p:cNvPr id="1" name=""/>
        <p:cNvGrpSpPr/>
        <p:nvPr/>
      </p:nvGrpSpPr>
      <p:grpSpPr>
        <a:xfrm>
          <a:off x="0" y="0"/>
          <a:ext cx="0" cy="0"/>
          <a:chOff x="0" y="0"/>
          <a:chExt cx="0" cy="0"/>
        </a:xfrm>
      </p:grpSpPr>
      <p:sp>
        <p:nvSpPr>
          <p:cNvPr id="3" name="Google Shape;240;p34">
            <a:extLst>
              <a:ext uri="{FF2B5EF4-FFF2-40B4-BE49-F238E27FC236}">
                <a16:creationId xmlns:a16="http://schemas.microsoft.com/office/drawing/2014/main" id="{A53AA163-2609-B523-7BD7-E885A09ED498}"/>
              </a:ext>
            </a:extLst>
          </p:cNvPr>
          <p:cNvSpPr/>
          <p:nvPr userDrawn="1"/>
        </p:nvSpPr>
        <p:spPr>
          <a:xfrm>
            <a:off x="427851" y="723227"/>
            <a:ext cx="392400" cy="60300"/>
          </a:xfrm>
          <a:prstGeom prst="rect">
            <a:avLst/>
          </a:prstGeom>
          <a:solidFill>
            <a:srgbClr val="5AC7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 name="Rectangle 3">
            <a:extLst>
              <a:ext uri="{FF2B5EF4-FFF2-40B4-BE49-F238E27FC236}">
                <a16:creationId xmlns:a16="http://schemas.microsoft.com/office/drawing/2014/main" id="{50C2C3F6-97C4-71CB-30DC-9D64609ABE75}"/>
              </a:ext>
            </a:extLst>
          </p:cNvPr>
          <p:cNvSpPr/>
          <p:nvPr userDrawn="1"/>
        </p:nvSpPr>
        <p:spPr>
          <a:xfrm>
            <a:off x="0" y="6296891"/>
            <a:ext cx="12192000" cy="561109"/>
          </a:xfrm>
          <a:prstGeom prst="rect">
            <a:avLst/>
          </a:prstGeom>
          <a:solidFill>
            <a:srgbClr val="5A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BEB01EEB-4330-917E-EECF-9349FD4CDB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42272433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range section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84CB56-378E-1BFC-E493-798C4652A31A}"/>
              </a:ext>
            </a:extLst>
          </p:cNvPr>
          <p:cNvSpPr/>
          <p:nvPr userDrawn="1"/>
        </p:nvSpPr>
        <p:spPr>
          <a:xfrm>
            <a:off x="0" y="6296891"/>
            <a:ext cx="12192000" cy="561109"/>
          </a:xfrm>
          <a:prstGeom prst="rect">
            <a:avLst/>
          </a:prstGeom>
          <a:solidFill>
            <a:srgbClr val="FF7F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0099D90-BFC4-0B2E-1A7A-3BA0D13B99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940570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range interior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862A6C-D8B2-F7BB-D7F0-F9C5E514F83F}"/>
              </a:ext>
            </a:extLst>
          </p:cNvPr>
          <p:cNvSpPr/>
          <p:nvPr userDrawn="1"/>
        </p:nvSpPr>
        <p:spPr>
          <a:xfrm>
            <a:off x="0" y="6296891"/>
            <a:ext cx="12192000" cy="561109"/>
          </a:xfrm>
          <a:prstGeom prst="rect">
            <a:avLst/>
          </a:prstGeom>
          <a:solidFill>
            <a:srgbClr val="FF7F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88676-5327-ED06-673F-D90225164C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
        <p:nvSpPr>
          <p:cNvPr id="5" name="Google Shape;240;p34">
            <a:extLst>
              <a:ext uri="{FF2B5EF4-FFF2-40B4-BE49-F238E27FC236}">
                <a16:creationId xmlns:a16="http://schemas.microsoft.com/office/drawing/2014/main" id="{90E0FAA9-302F-87F8-19D7-84C222B0CB73}"/>
              </a:ext>
            </a:extLst>
          </p:cNvPr>
          <p:cNvSpPr/>
          <p:nvPr userDrawn="1"/>
        </p:nvSpPr>
        <p:spPr>
          <a:xfrm>
            <a:off x="427851" y="723227"/>
            <a:ext cx="392400" cy="60300"/>
          </a:xfrm>
          <a:prstGeom prst="rect">
            <a:avLst/>
          </a:prstGeom>
          <a:solidFill>
            <a:srgbClr val="FF7F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80666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een section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C8A946-27AE-AFAA-BACF-37F00F7C55F7}"/>
              </a:ext>
            </a:extLst>
          </p:cNvPr>
          <p:cNvSpPr/>
          <p:nvPr userDrawn="1"/>
        </p:nvSpPr>
        <p:spPr>
          <a:xfrm>
            <a:off x="0" y="6296891"/>
            <a:ext cx="12192000" cy="561109"/>
          </a:xfrm>
          <a:prstGeom prst="rect">
            <a:avLst/>
          </a:prstGeom>
          <a:solidFill>
            <a:srgbClr val="6D99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descr="Pew logo. White text spelling the Pew name (P-e-w) on bright green background.&#10;">
            <a:extLst>
              <a:ext uri="{FF2B5EF4-FFF2-40B4-BE49-F238E27FC236}">
                <a16:creationId xmlns:a16="http://schemas.microsoft.com/office/drawing/2014/main" id="{A64762E0-4A4C-D340-A7AB-EF5D76A921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1761942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een interior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130BB8-0964-0AE2-B07A-8BD40C65D7A3}"/>
              </a:ext>
            </a:extLst>
          </p:cNvPr>
          <p:cNvSpPr/>
          <p:nvPr userDrawn="1"/>
        </p:nvSpPr>
        <p:spPr>
          <a:xfrm>
            <a:off x="0" y="6296891"/>
            <a:ext cx="12192000" cy="561109"/>
          </a:xfrm>
          <a:prstGeom prst="rect">
            <a:avLst/>
          </a:prstGeom>
          <a:solidFill>
            <a:srgbClr val="6D99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descr="Pew logo. White text spelling the Pew name (P-e-w) on bright green background.&#10;">
            <a:extLst>
              <a:ext uri="{FF2B5EF4-FFF2-40B4-BE49-F238E27FC236}">
                <a16:creationId xmlns:a16="http://schemas.microsoft.com/office/drawing/2014/main" id="{F54C169A-2826-5D0D-B044-73822BCEFE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
        <p:nvSpPr>
          <p:cNvPr id="5" name="Google Shape;240;p34">
            <a:extLst>
              <a:ext uri="{FF2B5EF4-FFF2-40B4-BE49-F238E27FC236}">
                <a16:creationId xmlns:a16="http://schemas.microsoft.com/office/drawing/2014/main" id="{662BEC84-DC23-AB7C-3EE9-DAEBB5D1E8A1}"/>
              </a:ext>
            </a:extLst>
          </p:cNvPr>
          <p:cNvSpPr/>
          <p:nvPr userDrawn="1"/>
        </p:nvSpPr>
        <p:spPr>
          <a:xfrm>
            <a:off x="427851" y="723227"/>
            <a:ext cx="392400" cy="60300"/>
          </a:xfrm>
          <a:prstGeom prst="rect">
            <a:avLst/>
          </a:prstGeom>
          <a:solidFill>
            <a:srgbClr val="6D99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154219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d section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BC677B-B506-BEB0-9DBD-F58C056E3D61}"/>
              </a:ext>
            </a:extLst>
          </p:cNvPr>
          <p:cNvSpPr/>
          <p:nvPr userDrawn="1"/>
        </p:nvSpPr>
        <p:spPr>
          <a:xfrm>
            <a:off x="0" y="6296891"/>
            <a:ext cx="12192000" cy="561109"/>
          </a:xfrm>
          <a:prstGeom prst="rect">
            <a:avLst/>
          </a:prstGeom>
          <a:solidFill>
            <a:srgbClr val="D8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descr="Pew logo. White text spelling the Pew name (P-e-w) on bright red background.&#10;">
            <a:extLst>
              <a:ext uri="{FF2B5EF4-FFF2-40B4-BE49-F238E27FC236}">
                <a16:creationId xmlns:a16="http://schemas.microsoft.com/office/drawing/2014/main" id="{7065B619-7CA2-B733-C9CC-0F1FD3D2BC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3794163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d interior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974900-04EB-DE22-E619-DF4F77F6E40C}"/>
              </a:ext>
            </a:extLst>
          </p:cNvPr>
          <p:cNvSpPr/>
          <p:nvPr userDrawn="1"/>
        </p:nvSpPr>
        <p:spPr>
          <a:xfrm>
            <a:off x="0" y="6296891"/>
            <a:ext cx="12192000" cy="561109"/>
          </a:xfrm>
          <a:prstGeom prst="rect">
            <a:avLst/>
          </a:prstGeom>
          <a:solidFill>
            <a:srgbClr val="D8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descr="Pew logo. White text spelling the Pew name (P-e-w) on bright red background.&#10;">
            <a:extLst>
              <a:ext uri="{FF2B5EF4-FFF2-40B4-BE49-F238E27FC236}">
                <a16:creationId xmlns:a16="http://schemas.microsoft.com/office/drawing/2014/main" id="{7B03CFD4-BB19-F08D-1ADB-FA7664DCED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
        <p:nvSpPr>
          <p:cNvPr id="5" name="Google Shape;240;p34">
            <a:extLst>
              <a:ext uri="{FF2B5EF4-FFF2-40B4-BE49-F238E27FC236}">
                <a16:creationId xmlns:a16="http://schemas.microsoft.com/office/drawing/2014/main" id="{839D8B35-06AA-8C07-8BB6-22BA9A4429C7}"/>
              </a:ext>
            </a:extLst>
          </p:cNvPr>
          <p:cNvSpPr/>
          <p:nvPr userDrawn="1"/>
        </p:nvSpPr>
        <p:spPr>
          <a:xfrm>
            <a:off x="427851" y="723227"/>
            <a:ext cx="392400" cy="60300"/>
          </a:xfrm>
          <a:prstGeom prst="rect">
            <a:avLst/>
          </a:prstGeom>
          <a:solidFill>
            <a:srgbClr val="D855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9875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nk 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8AFE5E3-94C4-A3DE-EF9C-6EF5B1B50A20}"/>
              </a:ext>
            </a:extLst>
          </p:cNvPr>
          <p:cNvSpPr/>
          <p:nvPr userDrawn="1"/>
        </p:nvSpPr>
        <p:spPr>
          <a:xfrm>
            <a:off x="0" y="6296891"/>
            <a:ext cx="12192000" cy="561109"/>
          </a:xfrm>
          <a:prstGeom prst="rect">
            <a:avLst/>
          </a:prstGeom>
          <a:solidFill>
            <a:srgbClr val="E67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5" name="Picture 4" descr="Pew logo. White text spelling the Pew name (P-e-w) on bright pink background.&#10;">
            <a:extLst>
              <a:ext uri="{FF2B5EF4-FFF2-40B4-BE49-F238E27FC236}">
                <a16:creationId xmlns:a16="http://schemas.microsoft.com/office/drawing/2014/main" id="{DA17F6BD-88DE-B6BE-CC29-FA592832D2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3986569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nk interior slide">
    <p:spTree>
      <p:nvGrpSpPr>
        <p:cNvPr id="1" name=""/>
        <p:cNvGrpSpPr/>
        <p:nvPr/>
      </p:nvGrpSpPr>
      <p:grpSpPr>
        <a:xfrm>
          <a:off x="0" y="0"/>
          <a:ext cx="0" cy="0"/>
          <a:chOff x="0" y="0"/>
          <a:chExt cx="0" cy="0"/>
        </a:xfrm>
      </p:grpSpPr>
      <p:sp>
        <p:nvSpPr>
          <p:cNvPr id="3" name="Google Shape;240;p34">
            <a:extLst>
              <a:ext uri="{FF2B5EF4-FFF2-40B4-BE49-F238E27FC236}">
                <a16:creationId xmlns:a16="http://schemas.microsoft.com/office/drawing/2014/main" id="{B299A8EB-DB50-A4AD-222D-141125A187B3}"/>
              </a:ext>
            </a:extLst>
          </p:cNvPr>
          <p:cNvSpPr/>
          <p:nvPr userDrawn="1"/>
        </p:nvSpPr>
        <p:spPr>
          <a:xfrm>
            <a:off x="427851" y="723227"/>
            <a:ext cx="392400" cy="60300"/>
          </a:xfrm>
          <a:prstGeom prst="rect">
            <a:avLst/>
          </a:prstGeom>
          <a:solidFill>
            <a:srgbClr val="E67CA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 name="Rectangle 3">
            <a:extLst>
              <a:ext uri="{FF2B5EF4-FFF2-40B4-BE49-F238E27FC236}">
                <a16:creationId xmlns:a16="http://schemas.microsoft.com/office/drawing/2014/main" id="{D3FEBDA5-D35A-338C-D1EB-DE7081C0E8F8}"/>
              </a:ext>
            </a:extLst>
          </p:cNvPr>
          <p:cNvSpPr/>
          <p:nvPr userDrawn="1"/>
        </p:nvSpPr>
        <p:spPr>
          <a:xfrm>
            <a:off x="0" y="6296891"/>
            <a:ext cx="12192000" cy="561109"/>
          </a:xfrm>
          <a:prstGeom prst="rect">
            <a:avLst/>
          </a:prstGeom>
          <a:solidFill>
            <a:srgbClr val="E67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5" name="Picture 4" descr="Pew logo. White text spelling the Pew name (P-e-w) on bright pink background.&#10;">
            <a:extLst>
              <a:ext uri="{FF2B5EF4-FFF2-40B4-BE49-F238E27FC236}">
                <a16:creationId xmlns:a16="http://schemas.microsoft.com/office/drawing/2014/main" id="{1D0DCECD-6631-901E-A71A-C909FC5165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33982" y="6446661"/>
            <a:ext cx="653219" cy="269351"/>
          </a:xfrm>
          <a:prstGeom prst="rect">
            <a:avLst/>
          </a:prstGeom>
        </p:spPr>
      </p:pic>
    </p:spTree>
    <p:extLst>
      <p:ext uri="{BB962C8B-B14F-4D97-AF65-F5344CB8AC3E}">
        <p14:creationId xmlns:p14="http://schemas.microsoft.com/office/powerpoint/2010/main" val="1078760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9789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690377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457200" rtl="0" eaLnBrk="1" latinLnBrk="0" hangingPunct="1">
        <a:lnSpc>
          <a:spcPts val="5400"/>
        </a:lnSpc>
        <a:spcBef>
          <a:spcPct val="0"/>
        </a:spcBef>
        <a:buNone/>
        <a:defRPr sz="6400" b="1" kern="700" spc="-250" baseline="0">
          <a:solidFill>
            <a:schemeClr val="bg1"/>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E44E-7D8B-72BC-F7A4-E667C96A86A4}"/>
            </a:ext>
          </a:extLst>
        </p:cNvPr>
        <p:cNvGrpSpPr/>
        <p:nvPr/>
      </p:nvGrpSpPr>
      <p:grpSpPr>
        <a:xfrm>
          <a:off x="0" y="0"/>
          <a:ext cx="0" cy="0"/>
          <a:chOff x="0" y="0"/>
          <a:chExt cx="0" cy="0"/>
        </a:xfrm>
      </p:grpSpPr>
      <p:sp>
        <p:nvSpPr>
          <p:cNvPr id="14" name="Footer">
            <a:extLst>
              <a:ext uri="{FF2B5EF4-FFF2-40B4-BE49-F238E27FC236}">
                <a16:creationId xmlns:a16="http://schemas.microsoft.com/office/drawing/2014/main" id="{414D619F-13C2-2D4C-5D29-CE1C25CCF01E}"/>
              </a:ext>
            </a:extLst>
          </p:cNvPr>
          <p:cNvSpPr txBox="1"/>
          <p:nvPr/>
        </p:nvSpPr>
        <p:spPr>
          <a:xfrm>
            <a:off x="350607" y="6452456"/>
            <a:ext cx="6985858" cy="276999"/>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Lato Black" panose="020F0502020204030203" pitchFamily="34" charset="0"/>
                <a:ea typeface="Lato Black" panose="020F0502020204030203" pitchFamily="34" charset="0"/>
                <a:cs typeface="Lato Black" panose="020F0502020204030203" pitchFamily="34" charset="0"/>
              </a:rPr>
              <a:t>Project: MSE Tools for Short-Lived Species</a:t>
            </a:r>
            <a:endParaRPr kumimoji="0" lang="en-US" sz="1200" b="1" i="0" u="none" strike="noStrike" kern="1200" cap="none" spc="0" normalizeH="0" baseline="0" noProof="0" dirty="0">
              <a:ln>
                <a:noFill/>
              </a:ln>
              <a:solidFill>
                <a:prstClr val="white"/>
              </a:solidFill>
              <a:effectLst/>
              <a:uLnTx/>
              <a:uFillTx/>
              <a:latin typeface="Lato Black" panose="020F0502020204030203" pitchFamily="34" charset="0"/>
              <a:ea typeface="Lato Black" panose="020F0502020204030203" pitchFamily="34" charset="0"/>
              <a:cs typeface="Lato Black" panose="020F0502020204030203" pitchFamily="34" charset="0"/>
            </a:endParaRPr>
          </a:p>
        </p:txBody>
      </p:sp>
      <p:sp>
        <p:nvSpPr>
          <p:cNvPr id="2" name="TextBox 1">
            <a:extLst>
              <a:ext uri="{FF2B5EF4-FFF2-40B4-BE49-F238E27FC236}">
                <a16:creationId xmlns:a16="http://schemas.microsoft.com/office/drawing/2014/main" id="{16AAFE4D-FC69-A0F2-BBC3-6551B26778EA}"/>
              </a:ext>
            </a:extLst>
          </p:cNvPr>
          <p:cNvSpPr txBox="1"/>
          <p:nvPr/>
        </p:nvSpPr>
        <p:spPr>
          <a:xfrm>
            <a:off x="1264301" y="2935701"/>
            <a:ext cx="1371348" cy="92333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Stock and Fishery Simulator</a:t>
            </a:r>
          </a:p>
        </p:txBody>
      </p:sp>
      <p:sp>
        <p:nvSpPr>
          <p:cNvPr id="6" name="TextBox 5">
            <a:extLst>
              <a:ext uri="{FF2B5EF4-FFF2-40B4-BE49-F238E27FC236}">
                <a16:creationId xmlns:a16="http://schemas.microsoft.com/office/drawing/2014/main" id="{EA597FAE-5ADC-14D9-D825-BBA3046DEDED}"/>
              </a:ext>
            </a:extLst>
          </p:cNvPr>
          <p:cNvSpPr txBox="1"/>
          <p:nvPr/>
        </p:nvSpPr>
        <p:spPr>
          <a:xfrm>
            <a:off x="495152" y="979484"/>
            <a:ext cx="5572535"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Review of literature, stock information and data sources</a:t>
            </a:r>
          </a:p>
        </p:txBody>
      </p:sp>
      <p:sp>
        <p:nvSpPr>
          <p:cNvPr id="7" name="TextBox 6">
            <a:extLst>
              <a:ext uri="{FF2B5EF4-FFF2-40B4-BE49-F238E27FC236}">
                <a16:creationId xmlns:a16="http://schemas.microsoft.com/office/drawing/2014/main" id="{92D3FF5E-91FC-3A46-B9D8-6F1DE10CCE25}"/>
              </a:ext>
            </a:extLst>
          </p:cNvPr>
          <p:cNvSpPr txBox="1"/>
          <p:nvPr/>
        </p:nvSpPr>
        <p:spPr>
          <a:xfrm>
            <a:off x="3117475" y="3074201"/>
            <a:ext cx="1139892" cy="64633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Simulated Data</a:t>
            </a:r>
          </a:p>
        </p:txBody>
      </p:sp>
      <p:sp>
        <p:nvSpPr>
          <p:cNvPr id="8" name="TextBox 7">
            <a:extLst>
              <a:ext uri="{FF2B5EF4-FFF2-40B4-BE49-F238E27FC236}">
                <a16:creationId xmlns:a16="http://schemas.microsoft.com/office/drawing/2014/main" id="{B03270A2-0A16-6263-E1D8-AC022B8AC9EE}"/>
              </a:ext>
            </a:extLst>
          </p:cNvPr>
          <p:cNvSpPr txBox="1"/>
          <p:nvPr/>
        </p:nvSpPr>
        <p:spPr>
          <a:xfrm>
            <a:off x="4774164" y="2941496"/>
            <a:ext cx="2855675" cy="92333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Evaluation of operating model  conditioning / stock assessment performance</a:t>
            </a:r>
          </a:p>
        </p:txBody>
      </p:sp>
      <p:sp>
        <p:nvSpPr>
          <p:cNvPr id="9" name="TextBox 8">
            <a:extLst>
              <a:ext uri="{FF2B5EF4-FFF2-40B4-BE49-F238E27FC236}">
                <a16:creationId xmlns:a16="http://schemas.microsoft.com/office/drawing/2014/main" id="{E2C76E69-9736-4E1C-2380-0D487AFE3070}"/>
              </a:ext>
            </a:extLst>
          </p:cNvPr>
          <p:cNvSpPr txBox="1"/>
          <p:nvPr/>
        </p:nvSpPr>
        <p:spPr>
          <a:xfrm>
            <a:off x="6435592" y="676268"/>
            <a:ext cx="4429839" cy="8771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0" i="0" u="none" strike="noStrike" kern="1200" cap="none" spc="0" normalizeH="0" baseline="0" noProof="0" dirty="0">
                <a:ln>
                  <a:noFill/>
                </a:ln>
                <a:solidFill>
                  <a:prstClr val="black"/>
                </a:solidFill>
                <a:effectLst/>
                <a:uLnTx/>
                <a:uFillTx/>
                <a:latin typeface="Calibri"/>
                <a:ea typeface="+mn-ea"/>
                <a:cs typeface="+mn-cs"/>
              </a:rPr>
              <a:t>What are plausible system dynamics?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0" i="0" u="none" strike="noStrike" kern="1200" cap="none" spc="0" normalizeH="0" baseline="0" noProof="0" dirty="0">
                <a:ln>
                  <a:noFill/>
                </a:ln>
                <a:solidFill>
                  <a:prstClr val="black"/>
                </a:solidFill>
                <a:effectLst/>
                <a:uLnTx/>
                <a:uFillTx/>
                <a:latin typeface="Calibri"/>
                <a:ea typeface="+mn-ea"/>
                <a:cs typeface="+mn-cs"/>
              </a:rPr>
              <a:t>What data types are available?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0" i="0" u="none" strike="noStrike" kern="1200" cap="none" spc="0" normalizeH="0" baseline="0" noProof="0" dirty="0">
                <a:ln>
                  <a:noFill/>
                </a:ln>
                <a:solidFill>
                  <a:prstClr val="black"/>
                </a:solidFill>
                <a:effectLst/>
                <a:uLnTx/>
                <a:uFillTx/>
                <a:latin typeface="Calibri"/>
                <a:ea typeface="+mn-ea"/>
                <a:cs typeface="+mn-cs"/>
              </a:rPr>
              <a:t>What management levers could be applied?</a:t>
            </a:r>
          </a:p>
        </p:txBody>
      </p:sp>
      <p:sp>
        <p:nvSpPr>
          <p:cNvPr id="11" name="TextBox 10">
            <a:extLst>
              <a:ext uri="{FF2B5EF4-FFF2-40B4-BE49-F238E27FC236}">
                <a16:creationId xmlns:a16="http://schemas.microsoft.com/office/drawing/2014/main" id="{7F1A6D9B-D33A-45C7-9153-DB24A3CABB23}"/>
              </a:ext>
            </a:extLst>
          </p:cNvPr>
          <p:cNvSpPr txBox="1"/>
          <p:nvPr/>
        </p:nvSpPr>
        <p:spPr>
          <a:xfrm>
            <a:off x="7959186" y="2788776"/>
            <a:ext cx="3991761" cy="14003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rgbClr val="9BBB59"/>
                </a:solidFill>
                <a:effectLst/>
                <a:uLnTx/>
                <a:uFillTx/>
                <a:latin typeface="Calibri"/>
                <a:ea typeface="+mn-ea"/>
                <a:cs typeface="+mn-cs"/>
              </a:rPr>
              <a:t>Simulation Tools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0" i="0" u="none" strike="noStrike" kern="1200" cap="none" spc="0" normalizeH="0" baseline="0" noProof="0" dirty="0">
                <a:ln>
                  <a:noFill/>
                </a:ln>
                <a:solidFill>
                  <a:prstClr val="black"/>
                </a:solidFill>
                <a:effectLst/>
                <a:uLnTx/>
                <a:uFillTx/>
                <a:latin typeface="Calibri"/>
                <a:ea typeface="+mn-ea"/>
                <a:cs typeface="+mn-cs"/>
              </a:rPr>
              <a:t>Given the plausible system dynamics and </a:t>
            </a:r>
            <a:r>
              <a:rPr kumimoji="0" lang="en-CA" sz="1700" b="0" i="0" u="none" strike="noStrike" kern="1200" cap="none" spc="0" normalizeH="0" baseline="0" noProof="0">
                <a:ln>
                  <a:noFill/>
                </a:ln>
                <a:solidFill>
                  <a:prstClr val="black"/>
                </a:solidFill>
                <a:effectLst/>
                <a:uLnTx/>
                <a:uFillTx/>
                <a:latin typeface="Calibri"/>
                <a:ea typeface="+mn-ea"/>
                <a:cs typeface="+mn-cs"/>
              </a:rPr>
              <a:t>available data, </a:t>
            </a:r>
            <a:r>
              <a:rPr kumimoji="0" lang="en-CA" sz="1700" b="0" i="0" u="none" strike="noStrike" kern="1200" cap="none" spc="0" normalizeH="0" baseline="0" noProof="0" dirty="0">
                <a:ln>
                  <a:noFill/>
                </a:ln>
                <a:solidFill>
                  <a:prstClr val="black"/>
                </a:solidFill>
                <a:effectLst/>
                <a:uLnTx/>
                <a:uFillTx/>
                <a:latin typeface="Calibri"/>
                <a:ea typeface="+mn-ea"/>
                <a:cs typeface="+mn-cs"/>
              </a:rPr>
              <a:t>is it possible to reliably estimate stock status, trajectory and establish reference points?</a:t>
            </a:r>
          </a:p>
        </p:txBody>
      </p:sp>
      <p:sp>
        <p:nvSpPr>
          <p:cNvPr id="12" name="TextBox 11">
            <a:extLst>
              <a:ext uri="{FF2B5EF4-FFF2-40B4-BE49-F238E27FC236}">
                <a16:creationId xmlns:a16="http://schemas.microsoft.com/office/drawing/2014/main" id="{0D95D9E5-BDEE-2494-3EEA-9B020D8FADEC}"/>
              </a:ext>
            </a:extLst>
          </p:cNvPr>
          <p:cNvSpPr txBox="1"/>
          <p:nvPr/>
        </p:nvSpPr>
        <p:spPr>
          <a:xfrm>
            <a:off x="1595897" y="4546851"/>
            <a:ext cx="3145682"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Operating model specification</a:t>
            </a:r>
          </a:p>
        </p:txBody>
      </p:sp>
      <p:sp>
        <p:nvSpPr>
          <p:cNvPr id="13" name="TextBox 12">
            <a:extLst>
              <a:ext uri="{FF2B5EF4-FFF2-40B4-BE49-F238E27FC236}">
                <a16:creationId xmlns:a16="http://schemas.microsoft.com/office/drawing/2014/main" id="{4ACB75E4-1017-19E3-2DBC-86F30DCE3245}"/>
              </a:ext>
            </a:extLst>
          </p:cNvPr>
          <p:cNvSpPr txBox="1"/>
          <p:nvPr/>
        </p:nvSpPr>
        <p:spPr>
          <a:xfrm>
            <a:off x="1595897" y="5096109"/>
            <a:ext cx="3556228"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Candidate management procedures</a:t>
            </a:r>
          </a:p>
        </p:txBody>
      </p:sp>
      <p:sp>
        <p:nvSpPr>
          <p:cNvPr id="15" name="TextBox 14">
            <a:extLst>
              <a:ext uri="{FF2B5EF4-FFF2-40B4-BE49-F238E27FC236}">
                <a16:creationId xmlns:a16="http://schemas.microsoft.com/office/drawing/2014/main" id="{B1E478DF-1D79-A906-F584-4B04BD7C2EA0}"/>
              </a:ext>
            </a:extLst>
          </p:cNvPr>
          <p:cNvSpPr txBox="1"/>
          <p:nvPr/>
        </p:nvSpPr>
        <p:spPr>
          <a:xfrm>
            <a:off x="6298391" y="4731517"/>
            <a:ext cx="1330915" cy="1200329"/>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MSE simulation testing of MPs</a:t>
            </a:r>
          </a:p>
        </p:txBody>
      </p:sp>
      <p:sp>
        <p:nvSpPr>
          <p:cNvPr id="16" name="TextBox 15">
            <a:extLst>
              <a:ext uri="{FF2B5EF4-FFF2-40B4-BE49-F238E27FC236}">
                <a16:creationId xmlns:a16="http://schemas.microsoft.com/office/drawing/2014/main" id="{7367E6AB-E181-7694-9E51-8BD1FD531C32}"/>
              </a:ext>
            </a:extLst>
          </p:cNvPr>
          <p:cNvSpPr txBox="1"/>
          <p:nvPr/>
        </p:nvSpPr>
        <p:spPr>
          <a:xfrm>
            <a:off x="8167111" y="4561707"/>
            <a:ext cx="3575910" cy="14003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rgbClr val="4BACC6"/>
                </a:solidFill>
                <a:effectLst/>
                <a:uLnTx/>
                <a:uFillTx/>
                <a:latin typeface="Calibri"/>
                <a:ea typeface="+mn-ea"/>
                <a:cs typeface="+mn-cs"/>
              </a:rPr>
              <a:t>MP and MSE Tools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0" i="0" u="none" strike="noStrike" kern="1200" cap="none" spc="0" normalizeH="0" baseline="0" noProof="0" dirty="0">
                <a:ln>
                  <a:noFill/>
                </a:ln>
                <a:solidFill>
                  <a:prstClr val="black"/>
                </a:solidFill>
                <a:effectLst/>
                <a:uLnTx/>
                <a:uFillTx/>
                <a:latin typeface="Calibri"/>
                <a:ea typeface="+mn-ea"/>
                <a:cs typeface="+mn-cs"/>
              </a:rPr>
              <a:t>What combination of data and management procedure (empirical or assessment + HCR) can meet management objectives robustly? </a:t>
            </a:r>
          </a:p>
        </p:txBody>
      </p:sp>
      <p:cxnSp>
        <p:nvCxnSpPr>
          <p:cNvPr id="32" name="Straight Connector 31">
            <a:extLst>
              <a:ext uri="{FF2B5EF4-FFF2-40B4-BE49-F238E27FC236}">
                <a16:creationId xmlns:a16="http://schemas.microsoft.com/office/drawing/2014/main" id="{E0A48759-FF05-0FE9-0005-E4579EE1024A}"/>
              </a:ext>
            </a:extLst>
          </p:cNvPr>
          <p:cNvCxnSpPr>
            <a:cxnSpLocks/>
          </p:cNvCxnSpPr>
          <p:nvPr/>
        </p:nvCxnSpPr>
        <p:spPr>
          <a:xfrm>
            <a:off x="2702263" y="3397366"/>
            <a:ext cx="345232" cy="0"/>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18EB9EE-F97E-9EC0-A949-C46CCE072D99}"/>
              </a:ext>
            </a:extLst>
          </p:cNvPr>
          <p:cNvCxnSpPr>
            <a:cxnSpLocks/>
          </p:cNvCxnSpPr>
          <p:nvPr/>
        </p:nvCxnSpPr>
        <p:spPr>
          <a:xfrm>
            <a:off x="4356387" y="3388246"/>
            <a:ext cx="345232" cy="0"/>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D273F755-C4BA-F73C-CED0-10CEB8DC265D}"/>
              </a:ext>
            </a:extLst>
          </p:cNvPr>
          <p:cNvCxnSpPr>
            <a:cxnSpLocks/>
          </p:cNvCxnSpPr>
          <p:nvPr/>
        </p:nvCxnSpPr>
        <p:spPr>
          <a:xfrm>
            <a:off x="1949975" y="1474237"/>
            <a:ext cx="0" cy="1326091"/>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99ED1F5B-D393-9050-8A21-E99FE3D7FF44}"/>
              </a:ext>
            </a:extLst>
          </p:cNvPr>
          <p:cNvCxnSpPr>
            <a:cxnSpLocks/>
          </p:cNvCxnSpPr>
          <p:nvPr/>
        </p:nvCxnSpPr>
        <p:spPr>
          <a:xfrm>
            <a:off x="3683077" y="1474237"/>
            <a:ext cx="15028" cy="1431448"/>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BD268E23-9BDC-86D9-CF61-535FD1809892}"/>
              </a:ext>
            </a:extLst>
          </p:cNvPr>
          <p:cNvCxnSpPr>
            <a:cxnSpLocks/>
          </p:cNvCxnSpPr>
          <p:nvPr/>
        </p:nvCxnSpPr>
        <p:spPr>
          <a:xfrm>
            <a:off x="6226085" y="4044820"/>
            <a:ext cx="0" cy="202164"/>
          </a:xfrm>
          <a:prstGeom prst="line">
            <a:avLst/>
          </a:prstGeom>
          <a:ln w="38100">
            <a:solidFill>
              <a:schemeClr val="tx1">
                <a:lumMod val="50000"/>
                <a:lumOff val="5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E901DCBB-EB68-21C1-BCE2-D01DFA13AE54}"/>
              </a:ext>
            </a:extLst>
          </p:cNvPr>
          <p:cNvCxnSpPr>
            <a:cxnSpLocks/>
          </p:cNvCxnSpPr>
          <p:nvPr/>
        </p:nvCxnSpPr>
        <p:spPr>
          <a:xfrm>
            <a:off x="3269115" y="4233470"/>
            <a:ext cx="0" cy="247476"/>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C8BE2863-34BB-9408-15EE-81B6956B7B4D}"/>
              </a:ext>
            </a:extLst>
          </p:cNvPr>
          <p:cNvCxnSpPr>
            <a:cxnSpLocks/>
          </p:cNvCxnSpPr>
          <p:nvPr/>
        </p:nvCxnSpPr>
        <p:spPr>
          <a:xfrm flipH="1" flipV="1">
            <a:off x="3281157" y="4233470"/>
            <a:ext cx="2920844" cy="3558"/>
          </a:xfrm>
          <a:prstGeom prst="line">
            <a:avLst/>
          </a:prstGeom>
          <a:ln w="38100">
            <a:solidFill>
              <a:schemeClr val="tx1">
                <a:lumMod val="50000"/>
                <a:lumOff val="5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A3B7801-2C2F-8095-13BE-20547C507865}"/>
              </a:ext>
            </a:extLst>
          </p:cNvPr>
          <p:cNvCxnSpPr>
            <a:cxnSpLocks/>
          </p:cNvCxnSpPr>
          <p:nvPr/>
        </p:nvCxnSpPr>
        <p:spPr>
          <a:xfrm flipH="1">
            <a:off x="775453" y="1430679"/>
            <a:ext cx="28313" cy="4381964"/>
          </a:xfrm>
          <a:prstGeom prst="line">
            <a:avLst/>
          </a:prstGeom>
          <a:ln w="38100">
            <a:solidFill>
              <a:schemeClr val="tx1">
                <a:lumMod val="50000"/>
                <a:lumOff val="5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7A3CDD9B-D74C-94A3-96B5-4D5C0AC6F903}"/>
              </a:ext>
            </a:extLst>
          </p:cNvPr>
          <p:cNvCxnSpPr>
            <a:cxnSpLocks/>
          </p:cNvCxnSpPr>
          <p:nvPr/>
        </p:nvCxnSpPr>
        <p:spPr>
          <a:xfrm>
            <a:off x="775453" y="4768895"/>
            <a:ext cx="633219" cy="0"/>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1559CF89-63A6-23AC-9307-02464F7E9198}"/>
              </a:ext>
            </a:extLst>
          </p:cNvPr>
          <p:cNvCxnSpPr>
            <a:cxnSpLocks/>
          </p:cNvCxnSpPr>
          <p:nvPr/>
        </p:nvCxnSpPr>
        <p:spPr>
          <a:xfrm flipV="1">
            <a:off x="803766" y="5280775"/>
            <a:ext cx="581901" cy="1"/>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49EF1529-4292-EB5D-56E0-D8276D669330}"/>
              </a:ext>
            </a:extLst>
          </p:cNvPr>
          <p:cNvCxnSpPr>
            <a:cxnSpLocks/>
          </p:cNvCxnSpPr>
          <p:nvPr/>
        </p:nvCxnSpPr>
        <p:spPr>
          <a:xfrm>
            <a:off x="5276210" y="5280775"/>
            <a:ext cx="886409" cy="0"/>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279AAF5-1BB4-654C-65B6-3CF8FD58DB55}"/>
              </a:ext>
            </a:extLst>
          </p:cNvPr>
          <p:cNvCxnSpPr>
            <a:cxnSpLocks/>
          </p:cNvCxnSpPr>
          <p:nvPr/>
        </p:nvCxnSpPr>
        <p:spPr>
          <a:xfrm flipH="1">
            <a:off x="4929963" y="4731517"/>
            <a:ext cx="748475" cy="5489"/>
          </a:xfrm>
          <a:prstGeom prst="line">
            <a:avLst/>
          </a:prstGeom>
          <a:ln w="38100">
            <a:solidFill>
              <a:schemeClr val="tx1">
                <a:lumMod val="50000"/>
                <a:lumOff val="5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1735485-C8D6-DFAA-D142-1FCA5F1955C1}"/>
              </a:ext>
            </a:extLst>
          </p:cNvPr>
          <p:cNvCxnSpPr>
            <a:cxnSpLocks/>
          </p:cNvCxnSpPr>
          <p:nvPr/>
        </p:nvCxnSpPr>
        <p:spPr>
          <a:xfrm flipH="1">
            <a:off x="4630370" y="5845358"/>
            <a:ext cx="1048068" cy="0"/>
          </a:xfrm>
          <a:prstGeom prst="line">
            <a:avLst/>
          </a:prstGeom>
          <a:ln w="38100">
            <a:solidFill>
              <a:schemeClr val="tx1">
                <a:lumMod val="50000"/>
                <a:lumOff val="5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BF7345E4-7444-F808-DD06-A5C4C0C5538A}"/>
              </a:ext>
            </a:extLst>
          </p:cNvPr>
          <p:cNvCxnSpPr>
            <a:cxnSpLocks/>
          </p:cNvCxnSpPr>
          <p:nvPr/>
        </p:nvCxnSpPr>
        <p:spPr>
          <a:xfrm>
            <a:off x="5678438" y="4731517"/>
            <a:ext cx="0" cy="1113841"/>
          </a:xfrm>
          <a:prstGeom prst="line">
            <a:avLst/>
          </a:prstGeom>
          <a:ln w="38100">
            <a:solidFill>
              <a:schemeClr val="tx1">
                <a:lumMod val="50000"/>
                <a:lumOff val="5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7275C679-F31E-71A2-CA2F-97C865D4069A}"/>
              </a:ext>
            </a:extLst>
          </p:cNvPr>
          <p:cNvSpPr txBox="1"/>
          <p:nvPr/>
        </p:nvSpPr>
        <p:spPr>
          <a:xfrm>
            <a:off x="1595897" y="5627977"/>
            <a:ext cx="2855675" cy="36933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Performance metrics</a:t>
            </a:r>
          </a:p>
        </p:txBody>
      </p:sp>
      <p:cxnSp>
        <p:nvCxnSpPr>
          <p:cNvPr id="94" name="Straight Connector 93">
            <a:extLst>
              <a:ext uri="{FF2B5EF4-FFF2-40B4-BE49-F238E27FC236}">
                <a16:creationId xmlns:a16="http://schemas.microsoft.com/office/drawing/2014/main" id="{3BE67AE0-ED54-F745-CAF5-54BAE3972BBB}"/>
              </a:ext>
            </a:extLst>
          </p:cNvPr>
          <p:cNvCxnSpPr>
            <a:cxnSpLocks/>
          </p:cNvCxnSpPr>
          <p:nvPr/>
        </p:nvCxnSpPr>
        <p:spPr>
          <a:xfrm>
            <a:off x="803766" y="5812643"/>
            <a:ext cx="670542" cy="0"/>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077D91CF-0E99-C2E3-1727-A6894A86B4EC}"/>
              </a:ext>
            </a:extLst>
          </p:cNvPr>
          <p:cNvSpPr txBox="1"/>
          <p:nvPr/>
        </p:nvSpPr>
        <p:spPr>
          <a:xfrm>
            <a:off x="4801801" y="1800676"/>
            <a:ext cx="2848567"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white"/>
                </a:solidFill>
                <a:effectLst/>
                <a:uLnTx/>
                <a:uFillTx/>
                <a:latin typeface="Calibri"/>
                <a:ea typeface="+mn-ea"/>
                <a:cs typeface="+mn-cs"/>
              </a:rPr>
              <a:t>Operating conditioning / assessment models</a:t>
            </a:r>
          </a:p>
        </p:txBody>
      </p:sp>
      <p:sp>
        <p:nvSpPr>
          <p:cNvPr id="114" name="TextBox 113">
            <a:extLst>
              <a:ext uri="{FF2B5EF4-FFF2-40B4-BE49-F238E27FC236}">
                <a16:creationId xmlns:a16="http://schemas.microsoft.com/office/drawing/2014/main" id="{FE67D217-AC75-A991-EA68-09F017E94721}"/>
              </a:ext>
            </a:extLst>
          </p:cNvPr>
          <p:cNvSpPr txBox="1"/>
          <p:nvPr/>
        </p:nvSpPr>
        <p:spPr>
          <a:xfrm>
            <a:off x="7959186" y="1800676"/>
            <a:ext cx="3991761" cy="61555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1" i="0" u="none" strike="noStrike" kern="1200" cap="none" spc="0" normalizeH="0" baseline="0" noProof="0" dirty="0">
                <a:ln>
                  <a:noFill/>
                </a:ln>
                <a:solidFill>
                  <a:srgbClr val="F79646"/>
                </a:solidFill>
                <a:effectLst/>
                <a:uLnTx/>
                <a:uFillTx/>
                <a:latin typeface="Calibri"/>
                <a:ea typeface="+mn-ea"/>
                <a:cs typeface="+mn-cs"/>
              </a:rPr>
              <a:t>Model specification and fitting tools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700" b="0" i="0" u="none" strike="noStrike" kern="1200" cap="none" spc="0" normalizeH="0" baseline="0" noProof="0" dirty="0">
                <a:ln>
                  <a:noFill/>
                </a:ln>
                <a:solidFill>
                  <a:prstClr val="black"/>
                </a:solidFill>
                <a:effectLst/>
                <a:uLnTx/>
                <a:uFillTx/>
                <a:latin typeface="Calibri"/>
                <a:ea typeface="+mn-ea"/>
                <a:cs typeface="+mn-cs"/>
              </a:rPr>
              <a:t>Model configuration and fitting </a:t>
            </a:r>
          </a:p>
        </p:txBody>
      </p:sp>
      <p:cxnSp>
        <p:nvCxnSpPr>
          <p:cNvPr id="115" name="Straight Connector 114">
            <a:extLst>
              <a:ext uri="{FF2B5EF4-FFF2-40B4-BE49-F238E27FC236}">
                <a16:creationId xmlns:a16="http://schemas.microsoft.com/office/drawing/2014/main" id="{E644D76A-E20E-A168-C07C-460F9360D304}"/>
              </a:ext>
            </a:extLst>
          </p:cNvPr>
          <p:cNvCxnSpPr>
            <a:cxnSpLocks/>
          </p:cNvCxnSpPr>
          <p:nvPr/>
        </p:nvCxnSpPr>
        <p:spPr>
          <a:xfrm>
            <a:off x="6226085" y="2607906"/>
            <a:ext cx="0" cy="297779"/>
          </a:xfrm>
          <a:prstGeom prst="line">
            <a:avLst/>
          </a:prstGeom>
          <a:ln w="38100">
            <a:solidFill>
              <a:schemeClr val="tx1">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27" name="Picture 126">
            <a:extLst>
              <a:ext uri="{FF2B5EF4-FFF2-40B4-BE49-F238E27FC236}">
                <a16:creationId xmlns:a16="http://schemas.microsoft.com/office/drawing/2014/main" id="{E61D8A3B-5B5D-EDEB-4F6C-147CA528BE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0336" y="6416338"/>
            <a:ext cx="541838" cy="349233"/>
          </a:xfrm>
          <a:prstGeom prst="rect">
            <a:avLst/>
          </a:prstGeom>
        </p:spPr>
      </p:pic>
      <p:sp>
        <p:nvSpPr>
          <p:cNvPr id="4" name="Rectangle 3">
            <a:extLst>
              <a:ext uri="{FF2B5EF4-FFF2-40B4-BE49-F238E27FC236}">
                <a16:creationId xmlns:a16="http://schemas.microsoft.com/office/drawing/2014/main" id="{03319BCE-91BD-B4B6-6DF5-DB6885814D22}"/>
              </a:ext>
            </a:extLst>
          </p:cNvPr>
          <p:cNvSpPr/>
          <p:nvPr/>
        </p:nvSpPr>
        <p:spPr>
          <a:xfrm>
            <a:off x="350607" y="529389"/>
            <a:ext cx="797549" cy="3894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020172664"/>
      </p:ext>
    </p:extLst>
  </p:cSld>
  <p:clrMapOvr>
    <a:masterClrMapping/>
  </p:clrMapOvr>
</p:sld>
</file>

<file path=ppt/theme/theme1.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ew-PPT-2023-Final  -  Read-Only" id="{B4E26D1F-A30A-4135-BC6D-8355F88EFAD6}" vid="{BC3C0ABA-237D-4238-B6AE-1A909A7E41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Words>
  <Application>Microsoft Office PowerPoint</Application>
  <PresentationFormat>Widescreen</PresentationFormat>
  <Paragraphs>21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Lato Black</vt:lpstr>
      <vt:lpstr>7_Office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Carruthers</dc:creator>
  <cp:lastModifiedBy>Thomas Carruthers</cp:lastModifiedBy>
  <cp:revision>1</cp:revision>
  <dcterms:created xsi:type="dcterms:W3CDTF">2026-04-22T15:52:29Z</dcterms:created>
  <dcterms:modified xsi:type="dcterms:W3CDTF">2026-04-22T15:52:53Z</dcterms:modified>
</cp:coreProperties>
</file>